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RapidAI Tech™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SAP Enterprise Systems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DDDDD"/>
                </a:solidFill>
              </a:rPr>
              <a:t>Training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FI/CO  ·  MM  ·  SD  ·  HCM  ·  BASIS  ·  ABAP  ·  BTP  ·  Fiori  ·  SAC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</a:rPr>
              <a:t>RapidAI Tech™ Professional Training Series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Session Agenda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Slides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Overview &amp; ERP Fundamentals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Slides 3–4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Product Landscape &amp; S/4HANA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Slides 5–6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Financial Modules (FI &amp; CO)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Slides 7–9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Supply Chain Modules (MM &amp; SD)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Slides 10–12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Production Planning (PP)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 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HCM &amp; Human Resources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 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BASIS Administration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Slides 15–16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ABAP 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 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BTP &amp; Modern Platforms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Slides 18–20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Fiori &amp; UX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 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Integration &amp; SAP Activate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Slides 22–23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Key Takeaways &amp; Summary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Slide 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1 — SAP OVERVIEW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ERP Fundamentals &amp; SAP History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SAP &amp; Why It Matters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SAP = Systems, Applications &amp; Products in Data Processing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Founded 1972 in Walldorf, Germany by 5 IBM engineers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400,000+ customers across 180+ countries; 77% of global business transactions touch SAP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ERP Definition: Integrated software managing all business functions on one platform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Single source of truth — eliminates data silos between Finance, Procurement, Sales, HR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Best-practice processes built in from 50+ years of implementations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SAP Evolution Timeline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1979: SAP R/2 (mainframe)  →  1992: SAP R/3 (client/server)  →  2011: SAP HANA  →  2015: S/4HANA  →  2020: BTP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SAP HANA: In-memory columnar database — processes billions of rows in milliseconds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2 — PRODUCT LANDSCAPE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S/4HANA &amp; the SAP Suite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Product Portfolio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S/4HANA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Core ERP: Finance, Supply Chain, Manufacturing, HR — on HANA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On-Premise / Cloud / Hybrid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SuccessFactors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Cloud HR: Recruiting, Payroll, Learning, 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Ariba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Procurement network &amp; spend management; world's largest B2B platform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Concur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Travel &amp; expense management; automated T&amp;E reporting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Customer Experience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CRM: Sales Cloud, Service, Commerce, Marketing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Analytics Cloud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BI + Planning + Predictive in one cloud platform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BTP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Integration, Extension, AI, Data management platform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PaaS/SaaS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Fieldglass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External workforce &amp; services procurement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S/4HANA: Key Innovations vs. ECC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Universal Journal (ACDOCA) — Single table for ALL financial postings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FI + CO + AA + ML merged into one ledger — no reconciliation between modules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Business Partner Concept — replaces separate Customer (KNA1) and Vendor (LFA1) tables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Embedded Analytics via CDS Views — real-time reporting without BW replication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Extended Warehouse Management (EWM) embedded — replaces classic WM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SAP Fiori as default UX — browser-based, role-based, mobile-responsive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Material Ledger mandatory — actual costing and parallel valuation standard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Deployment Options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On-Premise (full control)  |  Cloud Private Edition (managed)  |  Cloud Public Edition (SaaS)  |  RISE with SAP (bundle)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3 — FINANCIAL MODULES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SAP FI &amp; CO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Financial Accounting (FI) Sub-Modules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Sub-Module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Functions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FI-GL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General Ledger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Chart of accounts, posting periods, closing, universal journal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FI-AR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Accounts Receivable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Customer invoices, payments, dunning (F150), credit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FI-AP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Accounts Payable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Vendor invoices, auto payment run (F110), down payments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FI-AA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Asset Accounting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Fixed asset lifecycle, depreciation (AFAB), APC, retirement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FI-BL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Bank Accounting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House banks, EBS import (FF.5), bank reconciliation, cash mgmt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FI-TV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Travel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Employee expenses, trip types, settlement, HR payroll integration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 Organizational Structure &amp; Key Processes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548640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ORGANIZATIONAL UNITS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Client → Company Code → Business Area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Chart of Accounts (shared across company codes)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Fiscal Year Variant (Jan-Dec, April-March, 4-4-5)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Posting Period Variant (controls open/closed periods)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Controlling Area (CO link; spans multiple company codes)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DOCUMENT TYPES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SA = G/L Account Document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KR = Vendor Invoice  |  DR = Customer Invoice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ZP = Payment Document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822960"/>
            <a:ext cx="0" cy="5669280"/>
          </a:xfrm>
          <a:prstGeom prst="line">
            <a:avLst/>
          </a:prstGeom>
          <a:noFill/>
          <a:ln w="635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22960"/>
            <a:ext cx="548640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KEY MONTH-END PROCESSES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GR/IR Clearing (F.13) — match goods receipt to invoice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Foreign Currency Revaluation (FAGL_FC_VAL)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Depreciation Run (AFAB) — post asset depreciation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Accruals/Deferrals posting (FBS1)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Balance Carryforward (FAGLGVTR) for GL/AR/AP/AA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KEY TRANSACTIONS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FB60: Vendor Invoice  |  FB70: Customer Invoice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F110: Auto Payment Run  |  F150: Dunning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FBL1N: Vendor Items  |  FBL5N: Customer Items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Controlling (CO) — Internal Management Accounting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CO-CCA: Cost Center Accounting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Track costs by department/function; Assessment and Distribution cycles for allocation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CO-IO: Internal Orders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Temporary cost collectors for jobs, campaigns, events; settled at period end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CO-PC: Product Cost Controlling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Standard cost estimates; variance analysis; Material Ledger for actual costing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CO-PA: Profitability Analysis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Analyze profit by customer, product, region, sales channel; supports pricing decisions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CO-PCA: Profit Center Accounting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Decentralized P&amp;L by business segment; balance sheet per profit center in S/4HANA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KEY RULE: Primary cost elements match GL accounts. Secondary cost elements (category 21-43) are CO-only.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4 — SUPPLY CHAIN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Materials Management &amp; Sales Distribution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Materials Management (MM) — Procure-to-Pay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Procure-to-Pay Process Flow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Purchase Requisition (ME51N) → RFQ/Quotation → Purchase Order (ME21N)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Goods Receipt (MIGO) → Invoice Verification (MIRO) → Payment (F110)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Material Master Views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Basic Data, Purchasing, MRP 1-4, Accounting, Plant/Storage, Sales Org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Price Control S = Standard Price (fixed) | V = Moving Average Price (revalued)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Inventory Management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MIGO: GR (101), GI (261), Transfer (311/312), Return (122)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MB52: Stock overview by storage location; MD04: Stock/Requirements List (MRP view)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Invoice Verification (Three-Way Match)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PO quantities + GR quantities + Vendor invoice — tolerance checks applied automatically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GR/IR Clearing Account: Temporary bridge account cleared when PO, GR, and invoice all match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Sales &amp; Distribution (SD) — Order-to-Cash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Transaction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Activity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Pre-Sales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Inquiry (VA11) → Quotation (VA21)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Optional; customer communication before order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Sales Order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VA01 Create Sales Order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Availability check; credit check; pricing determination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Delivery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VL01N Outbound Delivery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Picking; packing; goods issue posts COGS to FI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Transportation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Shipment Document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Carrier assignment; freight cost settlement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Billing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VF01 Create Invoice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Revenue + AR posting to FI; completes O2C cycle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Payment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F-28 Incoming Payment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AR clearing; bank reconciliation via EBS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SD Pricing — Condition Technique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Condition Type — represents one pricing element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PR00 = Base Price  |  K007 = Customer Discount  |  MWST = Tax  |  SKTO = Cash Discount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Condition Table — field combination identifying a unique condition record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Example: Customer + Material (most specific) or just Material (broader)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Access Sequence — priority order SAP searches condition tables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Most-specific first; if found → use it; if not → try next table in sequence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Pricing Procedure — ordered list of condition types with calculation logic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Subtotals, requirement formulas, alternative formula, account keys for GL determination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Condition Record (VK11) — actual price/discount master data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Valid from/to dates; released status; currency; scale-based pricing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RULE: Use V/04 (Pricing Analysis) to diagnose why a condition was or was not found.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Production Planning (PP) — Demand to Supply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Key PP Master Data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Bill of Materials (BOM): component list for finished/semi-finished goods; multi-level explosion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Routing: operations sequence + work centers + standard times for scheduling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Work Center: resource (machine/person); capacity; cost center link; scheduling formulas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MRP Process (MD01/MD02)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Explodes BOM → calculates net requirements → generates Planned Orders or PReqs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Lot sizing: EX (exact), FX (fixed), EK (reorder point), MB (monthly batch)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Production Order Lifecycle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Planned Order → Convert → Production Order (CO01) → Release → Goods Issue components (261)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Operations confirmed (CO11N) → Final GR of finished goods (101) → Order Settlement (KO88)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Repetitive Manufacturing: backflushing auto-posts GI on confirmation (MFBF)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5 — HCM &amp; HR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Human Capital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HCM Key Sub-Modules &amp; Infotypes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760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Components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PA — Personnel Admin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IT0001 Org Assignment, IT0002 Personal Data, IT0008 Basic Pay, IT0007 Work Schedule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OM — Org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Org Units, Positions, Jobs, Reporting structure; PPOME = display org chart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PY — Payroll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Gross-to-net calculation; wage types; legal deductions; PC00_M* country-specific driver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TM — Time Mgmt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Work schedules; absences (IT2001); attendances (IT2002); time evaluation (TM04)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ESS/MSS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Employee/Manager Self-Service via Fiori: leave requests, time entry, payslips, team data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SuccessFactors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Cloud HR: Recruiting, Onboarding, Learning, Performance, Succession — replaces on-premise HCM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6 — BASIS &amp; ADMINISTRATION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SAP System Administration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BASIS Administration Areas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760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T-Codes &amp; Activities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User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SU01 (single user), SU10 (mass), SUIM (reporting), PFCG (roles/profiles)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Transport System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STMS: transport routes DEV→QAS→PRD; import queues; release transports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Background Jobs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SM36 (define jobs), SM37 (monitor), job classes A/B/C (priority)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System Monitoring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SM21 (log), SM50 (work processes), SM66 (global), AL08 (active users)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Performance Analysis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ST05 (SQL trace), SM66 (process bottlenecks), ST12 (ABAP trace)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Client Admin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SCC4: client roles (production/customizing/test); copy clients (SCC9)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Patch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SPAM/SAINT: import Support Package Stacks; kernel upgrade procedure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Security &amp; Authorization Concept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Authorization Object: defines a check with up to 10 fields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Example: F_BKPF_BUK = FI document posting for specific company code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Role (PFCG): Container of transactions + authorizations; generates authorization profile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Single Role: one area  |  Composite Role: bundles multiple single roles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SU53 — First diagnostic tool: shows last failed authorization check with exact object/field/value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Segregation of Duties (SoD): critical audit requirement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Example: Same user CANNOT have: Create Vendor (MK01) + Make Payment (F110)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SAP GRC Access Control automates SoD conflict detection and user provisioning workflows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Profile Parameter auth/password_*: controls password length, lockout, complexity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SNC (Secure Network Communications): encrypts SAPGUI-to-application server traffic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ABAP Development Fundamentals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SAP's proprietary programming language; 4th-generation; optimized for business data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Core Development Tools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SE38: ABAP Editor  |  SE11: Dictionary (tables/structures)  |  SE37: Function Modules  |  SE24: Classes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Key ABAP Concepts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Internal Tables: STANDARD (sequential), SORTED (keyed), HASHED (O(1) lookup)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Open SQL: SELECT FROM ... INTO TABLE; always specify fields; avoid SELECT * in production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LOOP AT / READ TABLE: iterate or access internal tables; use BINARY SEARCH on sorted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Enhancement Framework — extend without modifying SAP standard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BAdI (SE18/SE19): object-oriented exit; implement custom logic in defined exit points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Enhancement Spots: implicit/explicit source code enhancements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CDS Views: SQL-based data models with annotations; generate OData services for Fiori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ABAP Unit Testing (AUNIT): write test classes with FOR TESTING methods for quality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7 — SAP BTP &amp; MODERN PLATFORMS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Business Technology Platform, Fiori &amp; Analytics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BTP — Four Pillars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760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BTP Pillar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Services &amp; Tools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Database &amp; Data Mgmt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HANA Cloud, Datasphere, data lake, data marketplace, replication flows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Analytics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Analytics Cloud: BI + Planning + Predictive; SAP Datasphere for data foundation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App Dev &amp; Integration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CAP framework; SAP Integration Suite (CPI); API Management; workflow automation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Artificial Intelligence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AI Foundation; Generative AI Hub; SAP Joule (AI copilot); AI Core for custom 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Integration Suite (CPI) — Key Concepts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Cloud-native middleware replacing SAP PI/PO for modern integration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iFlow (Integration Flow): visual message processing pipeline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Define source adapter → mapping → routing → target adapter in graphical editor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Adapters: OData, REST, SOAP, IDoc, SFTP, AS2, EDI, JDBC, S/4HANA, Ariba, Success...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API Management: create, publish, monitor, and monetize APIs; developer portal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Open Connectors: 170+ pre-built connectors to Salesforce, ServiceNow, Workday, etc.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Trading Partner Management: EDI B2B; EDIFACT / X12 message standards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Integration Patterns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Point-to-Point (simple)  →  Hub-and-Spoke (CPI)  →  Event-Driven (Event Mesh)  →  API-First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SAP Event Mesh: async event-driven architecture; CloudEvents standard; S/4HANA Business Events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BTP Runtimes &amp; Services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760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Cloud Foundry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Traditional PaaS; buildpacks; Node.js, Java, Python; horizontal auto-scaling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Kyma Runtime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Kubernetes-based; containers; serverless functions; microservices; event-driven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HANA Cloud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Managed in-memory DB; scale-out; data lake files; graph engine; QRC updates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Datasphere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Data integration hub; business semantic layer; data marketplace; replication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SAP Build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Low-code: Build Apps (drag-drop), Build Work Zone (portal), Build Process Automation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XSUAA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OAuth 2.0; JWT tokens; role-based access; trust between BTP and SAP systems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Fiori — UX Design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548640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FIORI APP TYPES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Transactional: CRUD operations; replaces SAPGUI transactions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Analytical: KPIs, charts, drill-down; powered by CDS analytical views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Fact Sheet: 360° view of a business object (Customer, Material)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Fiori Elements: auto-generated from CDS annotations; no UI coding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Custom SAPUI5: hand-coded; full flexibility; more development effort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SAP Build Apps: drag-drop low-code; REST integration; mobile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CDS View → OData Service → SAPUI5/Fiori Elements App → Launchpad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822960"/>
            <a:ext cx="0" cy="5669280"/>
          </a:xfrm>
          <a:prstGeom prst="line">
            <a:avLst/>
          </a:prstGeom>
          <a:noFill/>
          <a:ln w="635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22960"/>
            <a:ext cx="548640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FIORI LAUNCHPAD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Tile-based home page; role-based content personalization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Notification center; app finder; recent/frequent apps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SAPUI5 FRAMEWORK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JavaScript MVC framework; responsive; accessibility-compliant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Loads from SAP system or BTP frontend server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DEVELOPMENT TOOLS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SAP Business Application Studio (BAS) on BTP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VS Code with SAP extension pack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Fiori tools for scaffolding and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8 — IMPLEMENTATION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SAP Activate &amp; 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Activate Methodology — Phases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5214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760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Activities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Discover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Scope; business case; fit-to-standard; sandbox system; SAP Best Practices review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Prepare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Project team; infrastructure; governance; system setup; sprint 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Explore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Fit-to-standard workshops; gap analysis; configuration decisions; backlog creation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Realize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Agile sprints; configure + develop + test; SIT; UAT; migration preparation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Deploy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Cutover execution; go-live; hypercare support; knowledge transfer to team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Run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</a:rPr>
                        <a:t>Ongoing operations; continuous improvement; upgrade planning; new feature adoption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SAP Integration Protocols Reference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RFC (Remote Function Call): SAP-proprietary; synchronous; type-safe; SM59 configuration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BAPI: RFC-enabled function modules; stable API for external/internal integration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IDoc (Intermediate Document): asynchronous; ALE and EDI; WE20 partner profiles</a:t>
            </a:r>
            <a:endParaRPr lang="en-US" sz="1500" dirty="0"/>
          </a:p>
          <a:p>
            <a:pPr lvl="1" marL="762000" indent="-381000">
              <a:buSzPct val="100000"/>
              <a:buChar char="•"/>
            </a:pPr>
            <a:r>
              <a:rPr lang="en-US" sz="1300" dirty="0">
                <a:solidFill>
                  <a:srgbClr val="BBBBBB"/>
                </a:solidFill>
              </a:rPr>
              <a:t>Message types: ORDERS, INVOIC, DESADV, MATMAS, DEBMAS, CREMAS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OData / REST: Fiori standard; JSON/XML; consumed by browsers, mobile, and third-party apps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SOAP / Web Services: XML-based; WSDL; legacy integration; WS Reliable Messaging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SAP Event Mesh: CloudEvents; asynchronous event-driven; decouples sender from receiver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AS2 / SFTP: EDI transport protocols; B2B with external trading partners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SAP GRC Access Control: SoD management; FireFighter emergency access; audit trail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KEY RULE: Always use Hub-and-Spoke (Integration Suite) for enterprise integration — avoid point-to-point at scale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RapidAI Tech™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SAP Enterprise Systems 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1133856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11556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1. SAP S/4HANA runs on HANA in-memory DB — Universal Journal (ACDOCA) is single source of truth for Finance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2. FI handles external statutory reporting; CO handles internal management accounting — unified in S/4HANA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3. MM Procure-to-Pay: PR → PO → GR (MIGO) → Invoice Verification (MIRO) → Payment (F110)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4. SD Order-to-Cash: Sales Order (VA01) → Delivery (VL01N) → Goods Issue → Billing (VF01) → Payment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5. ABAP is SAP's development language; use BAdIs and Enhancement Spots to extend without modifying standard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6. SU53 for auth diagnosis; PFCG for role management; SoD = cornerstone of SAP security compliance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7. SAP BTP unifies Integration, Analytics, AI, and App Development on one cloud platform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8. SAP Fiori = HTML5, role-based, device-agnostic UX; powered by CDS Views and OData APIs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9. SAP Activate (Discover→Prepare→Explore→Realize→Deploy→Run) is the modern S/4HANA project methodology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</a:rPr>
              <a:t>10. SAP Integration Suite (CPI) replaces PI/PO; iFlows, OData, IDoc, Event Mesh for enterprise connectivity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2026-09-24T20:05:10Z</dcterms:created>
  <dcterms:modified xsi:type="dcterms:W3CDTF">2026-09-24T20:05:10Z</dcterms:modified>
</cp:coreProperties>
</file>