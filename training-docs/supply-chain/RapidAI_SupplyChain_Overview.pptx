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RapidAI Tech™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SUPPLY CHAIN MANAGEMENT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CCCC"/>
                </a:solidFill>
              </a:rPr>
              <a:t>Comprehensive Training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Procurement  ·  Inventory  ·  WMS  ·  Transportation  ·  Demand Planning  ·  Lean  ·  Digital SC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Supply Chain Overview &amp; SCOR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Procurement &amp; Sourcing (P2P)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Inventory Management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Warehouse Management (WMS)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521208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5257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Transportation &amp; Logistics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18872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Demand Planning &amp; Forecasting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219456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S&amp;OP / Integrated Business Planning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Lean, Six Sigma &amp; Quality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Digital Supply Chain &amp; Industry 4.0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5212080"/>
            <a:ext cx="50292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5257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KPIs &amp; Performance Measurement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SUPPLY CHAIN OVERVIEW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What is SCM and Why Does It Matter?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Supply Chain Management?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113385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End-to-end network connecting suppliers, manufacturers, distributors, retailers, and customers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SCM objective: deliver the right product, at the right place, at the right time, at the right cost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Key flows: Material flow (upstream→downstream), Information flow (bidirectional), Financial flow (downstream→upstream)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SCM spans: Plan → Source → Make → Deliver → Return (SCOR Model framework)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Well-managed SC = competitive advantage: lower cost, faster delivery, better service, higher resilience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Poor SCM consequences: stockouts, excess inventory, late delivery, customer churn, working capital drain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Modern SC: global, digital, customer-centric, sustainability-focused, resilience-driven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SCOR Model — 6 Management Processes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Plan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Demand/supply planning, S&amp;OP, IBP; balances supply with customer requirements across the network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Procurement, supplier management, strategic sourcing, P2P process, supplier contracts and scorecards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Make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Manufacturing, production planning, scheduling, quality, WIP management, MRP/MES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Deliver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Order management, WMS, transportation, last-mile, customer service, returns management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Return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Reverse logistics: customer returns, supplier returns, remanufacturing, recycling, disposal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Enable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SC master data, risk management, talent, SC finance, compliance, SC technology and analytics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Supply Chain Performance KPIs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 &amp; Benchmark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OTIF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On-Time In-Full: &gt;95% benchmark (Walmart 98%)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Inventory Turns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COGS ÷ Avg Inventory; retail ~8x, automotive ~12x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Cash-to-Cash (C2C)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DIO + DSO − DPO; lower = better working capital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Perfect Order 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On-time + complete + damage-free + correct invoice; target &gt;97%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Forecast 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(1−MAPE)×100; S&amp;OP target &gt;85%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Total SC Cost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% of revenue; benchmark varies: retail 8-12%, industrial 5-8%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PROCUREMENT &amp; SOURCING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Strategic Sourcing and P2P Process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Strategic Sourcing — 7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113385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1. Spend Analysis — understand current spend by category, supplier, and business unit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2. Market Research — assess supply market: supplier landscape, capacity, pricing trends, risks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3. Supply Base Assessment — evaluate current suppliers; identify gaps; rationalize where needed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4. RFx Process — RFI (Information), RFP (Proposal), RFQ (Quotation); evaluate responses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5. Supplier Evaluation — scorecard: total cost, quality, delivery, innovation, sustainability, risk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6. Negotiation &amp; Award — negotiate terms, SLAs, pricing, payment; award contract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7. Onboard, Monitor &amp; Improve — SRM, KPI tracking, quarterly business reviews (QBRs)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Procure-to-Pay (P2P) Process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P2P Step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Purchase Requisition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Internal need identified → PR created → budget check → manager approval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Sourcing / PO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Competitive sourcing if needed → Purchase Order issued to approved supplier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Supplier Execution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Supplier acknowledges PO → manufactures/picks → ships with ASN (856)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Goods Receipt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3-way match begins: GR posted → quantity/quality verified → inventory updated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Invoice Receipt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Vendor invoice received → matched to PO and GR → discrepancies flagged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Payment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Approved invoices → payment run → payment posted → open item cleared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INVENTORY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Optimization, Classification &amp; Replenishment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Inventory Management Fundamentals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5303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ABC Analysis: A=80% value (20% SKUs), B=15%, C=5%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XYZ Analysis: X=stable demand, Y=variable, Z=erratic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ABC-XYZ matrix guides stock policy and controls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EOQ Formula: √(2DS/H) minimizes total inventory cost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Reorder Point: (Avg Daily Demand × LT) + Safety Stock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Safety Stock: Z × σ_LT × √LT protects service level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FIFO: First In, First Out — standard for most goods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FEFO: First Expired, First Out — pharma, perishables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VMI: Vendor manages replenishment based on inventory signals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Cycle Counting: ongoing partial counts vs. annual wall-to-wall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Shrinkage: theft, damage, expiry, admin error losses tracked 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Days Sales of Inventory (DSI) = (Avg Inv ÷ COGS) × 365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WAREHOUSE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WMS Operations and Best Practices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Warehouse Management Operations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Receiving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ASN pre-advice → dock scheduling → unload → QC → putaway; ASN improves throughput 30-40%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Putaway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Directed putaway: ABC-slotted, golden zone near dock, fast movers accessible; minimizes travel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Picking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Zone pick → batch pick → wave pick → voice pick → goods-to-person robotics; evolving with automation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Slotting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SKU location optimization by velocity, weight, family; reduces picker travel 10-30%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Cross-Docking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Direct transfer inbound→outbound; no storage; requires tight scheduling; used in retail DC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KPIs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Lines/person-hour, order accuracy %, dock-to-stock time, inventory accuracy %, cube utilization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TRANSPORTATION &amp; LOGISTICS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Modes, Incoterms &amp; Carrier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Transportation — Modes &amp; Key Concepts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5303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FTL: &gt;10,000 lbs / 28 pallets — full truck, direct, faster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LTL: &lt;10,000 lbs — shared truck, lower cost, more handling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Parcel: small packages, e.g., UPS/FedEx, same-day options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Air Freight: urgent/high-value; expensive; 8-10x ocean cost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Ocean: bulk/intermodal; FCL vs. LCL; 14-45 days transit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Rail: bulk domestic; cost-efficient for heavy, non-urgent cargo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Incoterms 2020: 11 terms defining risk/cost transfer points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EXW: seller packs; buyer takes all risk from seller's dock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FOB: seller to port; risk transfers when loaded on vessel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CIF: seller pays freight + insurance to destination port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DDP: seller responsible for all costs until customer door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TMS: rate shopping, carrier selection, track &amp; trace, audit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DEMAND PLANNING &amp; FORECASTING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Statistical Methods and Consensus Planning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Demand Forecasting Methods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Method/Metric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Moving Average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Averages last N periods; smooths noise; lags trend; use for stable, low-volume items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Exponential Smoothing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Weights recent data (α parameter); more responsive; Holt adds trend, Holt-Winters adds seasonality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Regression / Causal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Correlates demand to external drivers (GDP, promo spend, weather); better for driver-led demand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Mean Absolute Percentage Error; &lt;10% excellent, 10-20% good, &gt;20% needs improvement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Mean Absolute Deviation; same units as demand; used for safety stock and tracking signal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Tracking Signal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Cumulative Error / MAD; detects persistent forecast bias; trigger review if |TS|&gt;4-6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S&amp;OP / Integrated Business Planning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113385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S&amp;OP is a monthly cross-functional process to align demand, supply, and financial plans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 Steps: 1-Data Gathering → 2-Demand Review → 3-Supply Review → 4-Pre-S&amp;OP → 5-Executive S&amp;OP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Demand Review: Sales + Marketing align on consensus forecast by product family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Supply Review: Ops + Procurement assess capacity, constraints, and raw material availability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Pre-S&amp;OP: Cross-functional gap identification and scenario analysis before executive meeting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IBP (Integrated Business Planning): Advanced S&amp;OP — integrates P&amp;L, 24-36 month horizon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Key IBP platforms: SAP IBP, Kinaxis RapidResponse, Blue Yonder, o9 Solutions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Success factor: executive sponsorship + cross-functional discipline &gt; technology sophistication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LEAN &amp; QUALITY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Continuous Improvement Methodologies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Lean Manufacturing &amp; Quality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5303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7 Wastes (TIMWOOD): Transport, Inventory, Motion, Waiting, Overproduction, Overprocessing, Defects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5S: Sort → Set in Order → Shine → Standardize → Sustain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Kaizen: 3-5 day improvement events targeting specific waste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Value Stream Mapping: visualize current state, design future state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Kanban: pull-based signal system; reduces WIP and overproduction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SMED: reduce changeover to &lt;10 min by converting internal→external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OEE = Availability × Performance × Quality; world-class &gt;85%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Six Sigma: DMAIC framework; 3.4 DPMO at 6σ performance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FMEA: Failure Mode and Effects Analysis for risk prevention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SPC: Statistical Process Control; control charts; Cp, Cpk indices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Root Cause: 5-Why analysis, Fishbone (Ishikawa) diagram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PDCA: Plan-Do-Check-Act continuous improvement cycle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DIGITAL SUPPLY CHAIN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Industry 4.0 and Technology Landscape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Digital Supply Chain Technologies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Application in Supply Chain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IoT / RFID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Real-time asset tracking, condition monitoring, smart shelves, automated replenishment triggers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AI / ML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Demand sensing, predictive maintenance, supplier risk scoring, dynamic routing, anomaly detection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Digital Twin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Virtual SC replica; real-time simulation; disruption scenario planning; autonomous response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Blockchain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Provenance tracking, anti-counterfeit (pharma/food), smart contracts for auto-payment on delivery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RPA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Automates PO creation, invoice processing, carrier booking, reporting — rule-based, high-volume tasks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Control Tower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End-to-end visibility platform: alerts, exception management, scenario simulation, KPI dashboards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Supply Chain Resilience Strategies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113385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Multi-Sourcing: qualify multiple suppliers per critical category; avoid single-source dependency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Near-Shoring / Friend-Shoring: reduce geographic and geopolitical risk; improve lead time predictability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Inventory Buffers: strategic safety stock at key nodes; balance cost vs. risk mitigation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Demand Sensing: use real-time POS/order data to detect demand shifts early; reduce forecast lag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Scenario Planning: model disruption scenarios (supplier failure, port closure, demand spike); ready response playbooks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SC Risk Mapping (SCRM): classify suppliers by criticality × vulnerability; tier 2/3 visibility programs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Digital Tools: SAP Risk Management, Resilinc, Everstream Analytics for supplier risk intelligence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Diversification: geographic, modal, and supplier diversification reduces single-point-of-failure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Supply Chain Management Training  ·  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16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SCM 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SCOR Model (Plan/Source/Make/Deliver/Return/Enable) — universal language for SC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53949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42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Procurement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86207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TCO thinking beats price-only decisions; 3-way match ensures accuracy; strategic sourcing adds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94760"/>
            <a:ext cx="53949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67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Inventory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18795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ABC-XYZ classification drives differentiated policy; EOQ and ROP formulas optimize replenishment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5120640"/>
            <a:ext cx="53949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193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Warehouse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551383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Slotting + directed putaway reduce travel; OEE and lines/hour measure warehouse productivity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143000"/>
            <a:ext cx="53949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216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Transportation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15361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Incoterms define risk; mode selection balances cost/speed; TMS enables optimization and visibility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468880"/>
            <a:ext cx="53949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542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Demand Planning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86207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MAPE + tracking signal measure accuracy; S&amp;OP process aligns demand, supply, and finance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794760"/>
            <a:ext cx="53949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867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Lean &amp; Quality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18795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Eliminate MUDA; use DMAIC for breakthrough improvement; sustain with 5S and standard work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5120640"/>
            <a:ext cx="53949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5193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Digital SC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551383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IoT + AI + digital twin = real-time visibility and proactive decision-making; resilience is strategic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© 2025 RapidAI Tech™  |  Supply Chain Management Training  |  For internal use only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2026-09-24T20:18:05Z</dcterms:created>
  <dcterms:modified xsi:type="dcterms:W3CDTF">2026-09-24T20:18:05Z</dcterms:modified>
</cp:coreProperties>
</file>