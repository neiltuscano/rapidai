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286000"/>
            <a:ext cx="73152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Training Presentation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· Deep Learning · NLP · LLMs · MLOps · GenAI · Ethics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Edition  |  For Internal Training Use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0" cy="5486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&amp; History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548640" cy="5486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984248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Supervised, Unsupervised &amp; RL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54864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426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734056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CNNs, RNNs &amp; Transformers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392424"/>
            <a:ext cx="548640" cy="5486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924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83864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Large Language Models (LLMs)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142232"/>
            <a:ext cx="548640" cy="5486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142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233672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— Images, Audio, Code &amp; Video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54864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9834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— Pipelines, Monitoring &amp; Deployment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5641848"/>
            <a:ext cx="54864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56418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5733288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Ethics, Fairness &amp; Responsible AI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History &amp; Evolution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simulation of human intelligence by machines. Term coined at Dartmouth 1956.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1956–1969: Symbolic AI era — rule-based systems, search algorithms, logic provers (GPS, LISP)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1980s: Expert systems boom (MYCIN, XCON) → second AI winter when brittleness exposed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1986: Backpropagation popularized — neural network revival begins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1997: IBM Deep Blue defeats Kasparov; 2011: Watson wins Jeopardy! — milestone AI demonstrations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2012: AlexNet wins ImageNet by &gt;10% margin — deep learning breakthrough using GPUs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2014: GANs invented (Goodfellow); 2017: Transformers ("Attention Is All You Need")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GPT-3 (175B params); 2022: ChatGPT launches; 2023: GPT-4, Claude, Gemini, Llama 2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2024–2025: Multimodal LLMs, agentic AI frameworks, real-time reasoning models, AI agents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Core Concepts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5728716"/>
                <a:gridCol w="572871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mapping X→Y from labeled examples. Classification + Regression.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structure in unlabeled data. Clustering, dimensionality reduction, anomaly detection.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learns via reward signals from environment interaction. Sequential decisions.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Memorizes training data; high train acc, low test acc. Fix: regularization, more data, dropout.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Bias-Variance Tradeoff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bias = underfit. High variance = overfit. Goal: balance both.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k-fold: every sample tested exactly once. Robust performance estimation.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Creating informative input features. Often more impactful than algorithm choice.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← θ − α·∇L(θ). Iterative parameter update to minimize loss.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Key Algorithms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5728716"/>
                <a:gridCol w="572871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/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Binary/multi-class; interpretable; fast;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Tabular data; robust; handles missing; feature importance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/ 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tabular performance; Kaggle competitions; fast 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High-dimensional; small-medium datasets; kernel trick for non-linear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Neural Network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High-dimensional unstructured data (text, image, audio)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Linear/Ridge/Lasso Reg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output; Ridge shrinks; Lasso → feature 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&amp; Reinforcement Learning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partition into K clusters; elbow method for K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density-based; arbitrary shapes; finds outliers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linear dimensionality reduction; max variance axes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UMAP: non-linear; faster than t-SNE; preserves structure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Forest: anomaly detection via random isolation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Autoencoders: encode→latent→decode; anomaly = high reconstruction error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7356" y="1143000"/>
            <a:ext cx="5545836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8796" y="1207008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68796" y="1554480"/>
            <a:ext cx="5362956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Environment, State, Action, Reward, Policy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Q-Learning: learn Q(s,a) values via Bellman equation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DQN: Q-learning + deep CNN; Atari superhuman (2015)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PPO: stable policy gradient; clips large policy updates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human preference ranking trains reward model → PPO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factor γ: 0=myopic, 1=long-horizon planning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Networks, CNNs, RNNs &amp; Transformers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— Architecture &amp; Training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of layers of neurons: weighted sum + bias + activation function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input → hidden layers → output. Backprop: compute gradients → update weights.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expressiveness. Width = capacity per layer. More layers → hierarchical features.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randomly zero neurons during training (p=0.1–0.5); prevents co-adaptation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Normalization: normalize per mini-batch; faster training; higher LR possible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(L2): penalizes large weights; λ||w||² added to loss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halt when validation loss stops improving; cheapest regularizer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Optimizers: SGD (simple), Adam (adaptive, most used), AdamW (Adam + weight decay, transformers)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schedulers: reduce LR on plateau, cosine annealing, warmup + decay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(CNNs)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5728716"/>
                <a:gridCol w="572871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Innovation /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LeNet-5 (1998)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practical CNN; digit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 (2012)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ReLU, dropout, GPU training; ImageNet breakthrough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VGGNet (2014)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3×3 filters; simple depth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(2015)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connections; enables 50-200+ layer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 (2019)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scaling; best accuracy/efficiency tradeoff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patches as tokens; pure transformer; large-data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 (2022)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Modernized ResNet matching ViT; CNN efficiency + transformer ideas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(v8/v9)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object detection; one-stage; single forward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Deep Dive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5728716"/>
                <a:gridCol w="572871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token attends to all others: A=softmax(QKᵀ/√dₖ)·V. Parallelizable.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Multi-Head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parallel heads; different relational patterns learned; concatenated.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Positional Encoding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Sine/cosine signals injected to embeddings; order information.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Feed-Forward (FFN)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2-layer MLP per token; expands d→4d then contracts.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Norm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Per-sample normalization; stabilizes training; placed Pre-LN in modern models.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Connection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+ sublayer(x); gradient highway; enables deep stacking.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(BERT-style)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Bidirectional; masked language modeling; good for understanding tasks.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(GPT-style)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 (left-to-right); autoregressive generation; next-token prediction.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Large Language Models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Understanding, Generation &amp; Alignment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Core Tasks &amp; Approaches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5728716"/>
                <a:gridCol w="572871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 BERT / DistilBERT; prompt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Entity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BERT-CRF; BIO sequence labeling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 (rule-based); fine-tuned BERT; LLM prompting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Translation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MarianMT, NLLB (Meta); OpenAI / Google Translate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 (extractive+abstractive), T5, PEGASUS; LLM 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Answering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Extractive: BERT-SQuAD. Generative: T5, LLM RAG.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GPT-style autoregressive; temperature / top-p sampling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— Architecture &amp; Training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Transformer decoder pre-trained on next-token prediction at web scale (1T+ tokens)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stages: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Pre-training: teaches world knowledge, grammar, coding, reasoning from raw text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(Supervised Fine-Tuning): teaches instruction following on curated QA pairs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RLHF: reward model from human rankings → PPO optimizes LLM policy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DPO/RLAIF: simpler alternatives; AI feedback reduces human annotation costs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LLMs: GPT-4 (OpenAI), Claude 3.5 (Anthropic), Gemini 1.5 (Google), Llama 3 (Meta, open)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windows: GPT-4 128K · Claude 200K+ · Gemini 1.5 Pro 1M tokens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mitigation: RAG, grounding to sources, citations, structured outputs, fine-tuning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freeze base model; train rank-16 adapter matrices; 10,000× fewer parameters to update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Audio, Code, Video &amp; Agents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Landscape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Models: DALL-E 3, Stable Diffusion, Midjourney — forward noise → learned denoising reverse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GANs: StyleGAN (photorealistic faces), CycleGAN (style transfer) — adversarial training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VAEs: smooth latent space; interpolation; image editing; foundation for LDMs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Text-to-Speech: ElevenLabs, Whisper (ASR), VITS — voice cloning with ~3 min of audio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Music: AudioCraft (Meta), Suno AI, Udio — text-to-music generation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 Copilot, DeepSeek Coder, CodeLlama — autocomplete, explain, test, refactor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Sora (OpenAI), Runway Gen-3, Kling — text/image-to-video up to 60 seconds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Agents: LLM + tools + memory + planning — browse web, run code, call APIs autonomously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GPT-4V, Gemini, Claude 3 — process text, images, audio, documents in one model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Deployment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Monitoring &amp; Cloud Platforms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 Components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5728716"/>
                <a:gridCol w="572871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&amp; 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MLflow, Weights &amp; Biases — log hyperparams, metrics, model artifacts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Versioning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DVC — version large datasets alongside code; link data to experiments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Feast, Tecton — prevent train-serve skew; share computed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Registry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 Registry — lifecycle: staging → production → archived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for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+ pytest — automated tests on every commit; data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Airflow, Prefect, Kubeflow — schedule and monitor ML workflows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Serving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TorchServe, Triton, vLLM — REST/gRPC; batching for throughput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Evidently AI, Whylogs — data drift, concept drift, performance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ML Platforms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SageMaker: end-to-end; Studio IDE; Autopilot (AutoML); training jobs; endpoints; pipelines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AI: AutoML; Model Garden (foundation models); Matching Engine (vector search)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ML: Designer (no-code); AutoML; MLflow integration; Responsible AI dashboard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ML: Spark-based; Delta Lake; MLflow native; Unity Catalog for governance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Face: 500K+ models; Inference API; AutoTrain; Spaces (app deployment); community hub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strategies: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→ A/B Test → Canary (1%→10%→50%→100%) — progressive validation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(INT8): 4× smaller model, ~95-99% accuracy retained, much faster inference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Distillation: small student mimics large teacher (DistilBERT = 60% size, 97% perf)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deployment: ONNX → TensorFlow Lite → Core ML for mobile and IoT applications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12745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&amp; Governance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Fairness, XAI &amp; Responsible AI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— Key Concepts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5728716"/>
                <a:gridCol w="572871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Types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Historical, measurement, aggregation, representation — perpetuate discrimination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parity, equal opportunity, equalized odds — different definitions, choose by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Shapley-value feature attribution; consistent; explains any model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approximation with interpretable model; model-agnostic; faster than SHAP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Visualize CNN regions influential for classification; gradient-weighted activation maps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Risk-tiered regulation; bans real-time biometric surveillance; mandates human oversight for high-risk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Constitutional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method: model critiques and revises outputs against a principles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Teaming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testing for jailbreaks, harmful outputs, bias — mandatory before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Differential Privacy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DP-SGD: adds noise to gradients; no individual training example recoverable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documentation: purpose, training data, evaluation, limitations, intended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Domains at a Glance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2864358"/>
                <a:gridCol w="2864358"/>
                <a:gridCol w="2864358"/>
                <a:gridCol w="286435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Algorithms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Tabular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XGBoost, LightGBM, 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AUC-ROC, F1, 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 Autopilot, Vertex AutoML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ResNet, YOLO, ViT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mAP, Top-1/5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Rekognition, Google Vision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 / LLMs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BERT, GPT, T5, 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Perplexity, BLEU, ROUGE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OpenAI, Vertex Model Garden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Diffusion, DALL-E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FID, IS (images), CLIP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Bedrock, Replicate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PPO, DQN, A3C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Reward, Episode 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SageMaker RL, Google DeepMind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MLflow, Airflow, 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PSI, Model latency p99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Databricks, Kubeflow, W&amp;B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Techniques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5728716"/>
                <a:gridCol w="572871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+ question; no examples; relies on pre-training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examples + question; guides format and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Chain-of-Thought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"step by step"; elicits reasoning; improves math/logic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of Thought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multiple reasoning paths; backtrack; best for complex problems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+ tool use interleaved; search, code, APIs mid-answer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JSON/XML; include schema; validates and reduces hallucination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context chunks prepended; grounded factual responses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Persona, constraints, output format — foundational for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Best Practices &amp; Common Pitfalls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127455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&gt; algorithm choice — 80% of performance gain comes from better data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simple baseline first (logistic regression, mean predictor) before complex models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 held-out test set that is NEVER touched until final evaluation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data drift in production — model performance can degrade silently without alerts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deploy without shadow mode and A/B testing in production — even improvements can backfire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pitfalls: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Hallucination: always ground important facts with RAG or citations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sanitize user input; never trust content from external sources</a:t>
            </a:r>
            <a:endParaRPr lang="en-US" sz="1500" dirty="0"/>
          </a:p>
          <a:p>
            <a:pPr lvl="1">
              <a:spcAft>
                <a:spcPts val="300"/>
              </a:spcAft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length: chunk documents correctly; position bias in long contexts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test model performance across demographic subgroups before deployment</a:t>
            </a:r>
            <a:endParaRPr lang="en-US" sz="1500" dirty="0"/>
          </a:p>
          <a:p>
            <a:pPr>
              <a:spcAft>
                <a:spcPts val="500"/>
              </a:spcAft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model: model cards, data sheets, intended use, known limitations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LLMs vs Traditional ML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3819144"/>
                <a:gridCol w="3819144"/>
                <a:gridCol w="381914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Tabular structured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ML (XGBoost)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accuracy, interpretable, fast, cheap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text,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/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features automatically from raw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labeled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few-shot / zero-shot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labeled training data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explanations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ML + SHAP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coefficients, clear attribution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Production, high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 / quantized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and latency 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/ Diffusion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models that can generate novel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decisions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ML or 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too slow/expensive for &lt;50ms SLA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&amp; Quick Reference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57432" cy="5120640"/>
        </p:xfrm>
        <a:graphic>
          <a:graphicData uri="http://schemas.openxmlformats.org/drawingml/2006/table">
            <a:tbl>
              <a:tblPr/>
              <a:tblGrid>
                <a:gridCol w="5728716"/>
                <a:gridCol w="5728716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D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−Σ yᵢ log(ŷᵢ) — standard classification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= (1/n)Σ(y−ŷ)² — regression; penalizes 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σ(zᵢ) = exp(zᵢ)/Σexp(zⱼ) — multi-class probabilities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softmax(QKᵀ/√dₖ)·V — transformer 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← θ − α·∇L(θ) — parameter update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m/v 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m←β₁m+(1−β₁)g ; v←β₂v+(1−β₂)g² ; θ←θ−α·m̂/√(v̂+ε)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TP/(TP+FP) — of positives predicted, how many correct?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TP/(TP+FN) — of actual positives, how many caught?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2·P·R/(P+R) — harmonic mean of precision and 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exp(avg cross-entropy per token) — language model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RapidAI Tech™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91672" y="6583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11457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371600" cy="822960"/>
          </a:xfrm>
          <a:prstGeom prst="rect">
            <a:avLst/>
          </a:prstGeom>
          <a:solidFill>
            <a:srgbClr val="5B2D8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Foundations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1234440"/>
            <a:ext cx="9902952" cy="822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325880"/>
            <a:ext cx="9720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selection, feature engineering, and evaluation metrics are the building blocks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13716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74520" y="2286000"/>
            <a:ext cx="9902952" cy="822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2377440"/>
            <a:ext cx="9720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dominate NLP/CV; ResNets/YOLO for vision; hyperparameter tuning is critical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1371600" cy="8229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337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LLMs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74520" y="3337560"/>
            <a:ext cx="9902952" cy="822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16" name="Text 14"/>
          <p:cNvSpPr/>
          <p:nvPr/>
        </p:nvSpPr>
        <p:spPr>
          <a:xfrm>
            <a:off x="1965960" y="3429000"/>
            <a:ext cx="9720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→ SFT → RLHF pipeline; RAG for grounding; prompt engineering for control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389120"/>
            <a:ext cx="13716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3891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874520" y="4389120"/>
            <a:ext cx="9902952" cy="822960"/>
          </a:xfrm>
          <a:prstGeom prst="rect">
            <a:avLst/>
          </a:prstGeom>
          <a:solidFill>
            <a:srgbClr val="222244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4480560"/>
            <a:ext cx="9720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tracking, drift monitoring, and progressive deployment separate toy from production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3D1A6E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263640"/>
            <a:ext cx="11457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RapidAI Tech™  |  AI Training Presentation  |  For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2026-09-24T19:49:26Z</dcterms:created>
  <dcterms:modified xsi:type="dcterms:W3CDTF">2026-09-24T19:49:26Z</dcterms:modified>
</cp:coreProperties>
</file>