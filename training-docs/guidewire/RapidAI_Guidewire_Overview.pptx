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5B2D8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7315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InsuranceSuite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Presentation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PolicyCenter  ·  ClaimCenter  ·  BillingCenter  · 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Release 2025.03  |  Training Edition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 — FOR INTERNAL TRAINING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0" cy="5486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Platform Overview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548640" cy="5486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PolicyCenter — Policy Lifecycle Management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54864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78892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ClaimCenter — Claims Processing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54864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5661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BillingCenter — Financial Operations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251960"/>
            <a:ext cx="548640" cy="5486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Architecture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5029200"/>
            <a:ext cx="54864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51206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InsuranceSuite — Platform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P&amp;C insurance platform: Underwriting, Claims, Billing in one suite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deployment on Guidewire Cloud (AWS); on-premise legacy also supported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release: Cloud 2025.03 (PolicyCenter/BillingCenter); ClaimCenter 10.2.2 on-prem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technology stack: Gosu scripting, PCF UI framework, OSGi plugin bundles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systems: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PolicyCenter — Policy lifecycle: new business, endorsements, renewals, cancellations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ClaimCenter  — Claims lifecycle: FNOL, investigation, reserving, payment, recovery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BillingCenter — Financial lifecycle: invoicing, payments, delinquency management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layer: SOAP Web Services, Cloud REST API, JMS/Kafka Messaging, Plugin Framework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Marketplace: 200+ pre-built partner integrations for rapid deployment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2400300"/>
            <a:ext cx="12024360" cy="2057400"/>
          </a:xfrm>
          <a:prstGeom prst="rect">
            <a:avLst/>
          </a:prstGeom>
          <a:solidFill>
            <a:srgbClr val="5B2D8E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PolicyCenter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Lifecycle 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PolicyCenter — Job Framework &amp; Policy Lifecycle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policy transactions are executed as "Jobs" — auditable, workflow-driven processes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Job Types: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— new business quote &amp; bind; creates a new PolicyPeriod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PolicyChange (Endorsement) — mid-term coverage or data modifications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— system-generated at expiry; basis period copied to renewal period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— voluntary or company-initiated; generates return premium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Reinstatement — restores a cancelled policy; requires management approval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— replaces an existing policy (e.g., product change)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— verifiable premium adjustment (workers comp, commercial auto)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→ PolicyPeriod → Policy: each period tracks effective/expiry dates, state, and premium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states: Draft → Quoted → Bound → In Force → Expired/Cancelled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PolicyCenter — Core Data Model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3819144"/>
                <a:gridCol w="3819144"/>
                <a:gridCol w="381914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policy record — parent of all periods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PolicyNumber, Status,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effective date range; holds all coverage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EffectiveDate, ExpirationDate, TotalPremium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Product-specific container (e.g., PersonalAuto 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LineCode, PolicyPeriod FK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coverage (Liability, Collision, etc.)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CovType, Limit, Deductible,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Risk/Exposure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Insured object (Vehicle, Property, Driver)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VehicleVIN, LocationAddress,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 process that changes policy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JobNumber, JobType, Status, CreateTime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Underwriting exception requiring 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UWIssueCode, Status (Open/Approved/Rejected)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PolicyCenter — Rating &amp; Underwriting Rules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Engine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IRatingPlugin interface enables custom / third-party rating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Tables: premium factor lookups by territory, class, limit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sequence: base rate × factors × credits = final premium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rate changes deploy via RateBook versioning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rating: each PolicyLine rates independently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premium enforcement at line and policy level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8796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Rules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68796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Rules fire on every quote and endorsement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severity levels: Advisory, Referral, Blocking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rules prevent binding until resolved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Authority matrix controls who can approve exceptions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UW: score-based auto-approve thresholds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LOB-specific rules: MVR checks, credit score, prior losses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2400300"/>
            <a:ext cx="12024360" cy="2057400"/>
          </a:xfrm>
          <a:prstGeom prst="rect">
            <a:avLst/>
          </a:prstGeom>
          <a:solidFill>
            <a:srgbClr val="1565C0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ClaimCenter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Claims Processing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ClaimCenter — Claims Lifecycle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FNOL (First Notice of Loss): initial claim intake — policy lookup, loss details, claimant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automatic or manual routing to adjuster / team via IAutoAssignPlugin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Investigation: reserve establishment, coverage verification, litigation flag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liability determination, damages assessment, salvage/subrogation potential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/ Payment: check issuance, EFT, vendor payment via IPaymentInstrumentPlugin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subrogation, salvage, other recoveries tracked against exposure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Closure: final reserves to $0, file closure, metrics capture (cycle time, LAE)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Reopening: supported with full audit trail; reserve re-establishment required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Average Days to Close, Reserve Adequacy, Severity by LOB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ClaimCenter — Core Data Model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3819144"/>
                <a:gridCol w="3819144"/>
                <a:gridCol w="381914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claim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ClaimNumber, Policy, LossDate, Status, LOB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Coverage-specific sub-claim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CoverageType, ClaimantContact, ClosingReserves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reservation per reserve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ReserveType (Loss/ALAE/Salvage),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Disbursement against an 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PaymentType, Amount, PayTo, CheckStatus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Subrogation or salvage receipt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RecoveryType, Amount,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or follow-up on a claim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ActivityPattern, DueDate, AssignedUser,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NoteType, Body, Author, CreateTime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ClaimCenter — Reserving &amp; Payment Controls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Types: Loss, ALAE (Allocated LAE), Subrogation, Salvage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reserves set at FNOL from IRounding / reserve patterns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adequacy: case reserve vs. statistical reserve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changes require authority thresholds ($)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Incurred = Paid + Outstanding (open reserves)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IBNR tracked separately at portfolio level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8796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Authority &amp; Controls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68796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authority matrix by user role and payment amount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 for vendor invoices (PO/receipt/invoice)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EFT, draft payment methods supported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&amp; reissue workflow for lost or stale checks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payment batching for mass tort / CAT events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Recoveries offset gross payments for net indemnity reporting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ClaimCenter — Workplan, Activities &amp; Diary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has a Workplan — structured set of Activities (tasks) guiding adjuster workflow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Patterns: pre-configured templates triggered by claim events (FNOL, reserve change)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attributes: Subject, DueDate, EscalationDate, Priority, AssignedUser/Group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Diary management: adjuster sets follow-up reminders within the Workplan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diary creation: missed SLA, pending medical records, litigation flag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queues: escalated activities route to manager when adjuster SLA breached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activity reassignment: territory transfers, adjuster terminations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completion gates: claim cannot be closed with open mandatory activities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Open Activity Count, Overdue Activity %, Average Activity 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2400300"/>
            <a:ext cx="12024360" cy="2057400"/>
          </a:xfrm>
          <a:prstGeom prst="rect">
            <a:avLst/>
          </a:prstGeom>
          <a:solidFill>
            <a:srgbClr val="2E7D32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BillingCenter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Billing &amp; Collections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BillingCenter — Core Concepts &amp;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BillingCenter manages all financial transactions for the insurance lifecycle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BillingAccount: the root financial entity; one per named insured or agency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types: Direct Bill (insured pays carrier) vs. Agency Bill (agent pays carrier)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Plans: determine invoice schedule (Annual, Semi-Annual, Quarterly, Monthly, Pay-As-You-Go)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Plans: down payment % + installment schedule (e.g., 20% down, 9 equal installments)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lifecycle: Billed → Partially Paid → Paid / Overdue → Written-Off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Queue Engine (WQE): asynchronous processing of financial events (invoicing, delinquency)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(agents/brokers) managed through ProducerCode and commission tracking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Finance: third-party payer arrangements tracked in BillingCenter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BillingCenter — Delinquency &amp; Collections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Workflow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invoice reaches past-due threshold (configurable)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Plans: define grace periods, notices, final action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states: Triggered → In Process → Resolved / Cancelled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actions: Cancel policy, Restrict, Lapse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Cure: payment received clears delinquency plan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Waive: management override — waives late fee or delinquency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8796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Write-Off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68796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receivables report: 30/60/90/120+ days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queues route accounts to collections team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collections agency integration via plugin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Write-off: uncollectable charges moved to Bad Debt GL code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Reinstatement: policy restores on payment within cure window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(Non-Sufficient Funds): reversal workflow + NSF fee assessment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BillingCenter — Core Data Model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3819144"/>
                <a:gridCol w="3819144"/>
                <a:gridCol w="381914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financial account per insured / agency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AccountNumber, AccountType, Currency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(BC)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of PolicyCenter policy — billing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PolicyNumber, BillingPlan, PaymentPlan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amount owed (premium, fee, tax)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ChargeType, Amount, DueDate,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Aggregated statement mailed / emailed to insured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InvoiceDate, DueDate, TotalAmount,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 from insured or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PaymentMethod, Amount, ReceivedDate,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action on overdue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DelinquencyPlan, TriggerDate, FinalAction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 earnings on written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ProducerCode, Rate %, Amount,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2400300"/>
            <a:ext cx="12024360" cy="2057400"/>
          </a:xfrm>
          <a:prstGeom prst="rect">
            <a:avLst/>
          </a:prstGeom>
          <a:solidFill>
            <a:srgbClr val="6A1B9A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Architecture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InsuranceSuite to Your Ecosystem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Four Core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SOAP Web Services — synchronous, contract-first XML/WSDL; WS-Security UsernameToken or X.509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real-time lookups, policy retrieval from legacy systems, direct batch calls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Cloud API (REST/JSON) — OpenAPI 3.0 schema; OAuth 2.0 Client Credentials (Bearer token)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modern microservice integration, mobile apps, portals; supports webhooks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Messaging (JMS/Kafka) — asynchronous pub/sub; guaranteed delivery with retry &amp; DLQ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high-volume events (policy issuance, payment posted), decoupled systems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Plugin Framework (OSGi) — in-process Java/Gosu extensions deployed as bundles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rating overrides, document production, geocoding, payment instruments, decisioning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choose the least-coupled pattern that satisfies the SLA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— Configuration &amp; Key Files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schema.json — entity fields exposed externally; controls what clients can read/write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mapping.json — maps Cloud API field names to internal Guidewire model fields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updater.json — defines write operations; validation &amp; mutation logic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apiconfig.yaml — global enable/disable, version, base paths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integrationGraph.json — dependency graph for batch/async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8796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68796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Client Credentials flow (no user context)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pc.claim.read, pc.policy.write, bc.billing.read …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token; validate iss/aud/exp on each request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option for high-security environments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events: entity.created / entity.updated / entity.deleted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internal DB IDs in payloads — always PublicID (stable across environments)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Key Plugin Interfaces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3819144"/>
                <a:gridCol w="3819144"/>
                <a:gridCol w="381914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IRatingPlugin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premium calculation; replaces built-in rate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IDocumentProduction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PC/CC/BC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docs, ID cards, EOBs via DocuSign / LaserPro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IGeocodingPlugin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PC/CC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standardization, territory assignment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ICreditScorePlugin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credit score lookup during UW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IPaymentInstrumentPlugin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 / ACH processing; PCI-DSS scope 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IFinancialsPlugin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journal entry push to ERP (SAP, Oracle, etc.)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IAutoAssignPlugin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Rules-based claim auto-assignment to adjuster/team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IBillingCenterPlugin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PC→BC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PolicyCenter calls BC to sync premium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IPolicyRetrievalPlugin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ClaimCenter looks up policy details from PolicyCenter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Messaging Architecture (JMS/Kafka)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MessageCenter: built-in outbound messaging queue with retry logic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Events: PolicyIssued, PolicyCancelled, ClaimOpened, PaymentPosted, InvoiceGenerated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guarantee: at-least-once; consumer must be idempotent (use PublicID as idempotency key)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 (DLQ): undeliverable messages held for ops review — configure alert threshold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JMS: ActiveMQ / MQ Series; Kafka: event streaming for real-time analytics pipelines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schema: JSON envelope {eventType, entityType, entityPublicID, timestamp, payload}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Ordering: Kafka partition key = entityPublicID for per-entity ordering guarantee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platform pattern: Guidewire → MQ → ESB (MuleSoft / TIBCO) → downstream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subscribe to events, never poll the database directly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Authentication Patterns by Interface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2864358"/>
                <a:gridCol w="2864358"/>
                <a:gridCol w="2864358"/>
                <a:gridCol w="286435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/ Credential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API (REST)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2.0 Client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Bearer token (15 min TTL)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client in IdP; use scopes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 Web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WS-Security UsernameToken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 + Password in SOAP 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password; rotate frequently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 (high-security)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WS-Security X.509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XML; cert-based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TLS for on-premise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/ IdP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2.0 or OAuth 2.0 OIDC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 assertion / ID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Okta, Azure AD, Ping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 (JMS)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 + Password or TLS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credentials / client cert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via secrets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SASL/SCRAM or MTLS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SASL credentials / TLS client cert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ACLs to restrict topic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2400300"/>
            <a:ext cx="12024360" cy="2057400"/>
          </a:xfrm>
          <a:prstGeom prst="rect">
            <a:avLst/>
          </a:prstGeom>
          <a:solidFill>
            <a:srgbClr val="3D1A6E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Gosu &amp; Configuration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Without Core Code Changes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Gosu Language &amp; PCF UI Framework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Gosu Language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JVM language — statically typed, Java-interoperable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business rules, validation, workflow, calculation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.gsp (script), .gsx (class extension), .gst (template)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extensions (.gsx): add methods to existing entities without modifying schema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syntax: enhancement PolicyPeriodEnhancement : PolicyPeriod { ... }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Gosu Rules Engine: declarative if/then rules evaluated in sequence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keep Gosu thin; push complex logic to Java plugins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8796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 — Product Config Framework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68796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XML-based UI definition — panels, widgets, and page flows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under /modules/configuration/config/web/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pcf:Page → pcf:PanelSet → pcf:Panel → pcf:InputSet → pcf:Input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binding: model.Field syntax; two-way for editable fields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display: visible="gw.api.util.SomeHelper.isVisible()"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 localization: displaykey.* for all user-facing strings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Versioning: PCF changes tracked in source control; deploy via Guidewire Studio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Tips — Common Pitfalls &amp; Best Practices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PublicID in integration payloads — internal DB IDs change across environments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PolicyPeriod ≠ Policy: a Policy can have multiple periods (Renewal, Rewrite); query the period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BillingCenter "Policy" is a shadow copy — source of truth is PolicyCenter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change ≠ Payment: changing a reserve has no cash impact; payment does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cure requires payment posting, not just payment initiation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schema.json controls WHAT is visible; mapping.json controls HOW it maps — edit both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OSGi plugin bundles must declare exported packages correctly or ClassLoader isolation fails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query Guidewire DB directly in production integrations — use the published APIs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WQE messages are at-least-once: implement idempotency in all consumers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Gosu .gsx files are NOT recompiled on deployment — requires a full server restart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Comparisons at a Glance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2864358"/>
                <a:gridCol w="2864358"/>
                <a:gridCol w="2864358"/>
                <a:gridCol w="286435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/ PolicyPeriod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(Submission, Renewal…)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/ Invoice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(written/earned)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+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+ Receipt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workflow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→ UW → Bind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FNOL → Evaluate → 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→ Collect → Reconcile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IRatingPlugin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IAutoAssignPlugin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IPaymentInstrumentPlugin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auth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pc.policy.read/write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pc.claim.read/write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bc.billing.read/write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config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model 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assignmentRules.xml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billingPlans.xml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371600" cy="8229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PolicyCenter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1234440"/>
            <a:ext cx="9902952" cy="822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325880"/>
            <a:ext cx="9720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framework drives all policy transactions; UW rules control acceptance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3716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ClaimCenter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74520" y="2286000"/>
            <a:ext cx="9902952" cy="822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2377440"/>
            <a:ext cx="9720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FNOL to closure: reserve adequacy and payment authority are the core controls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13716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337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BillingCenter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74520" y="3337560"/>
            <a:ext cx="9902952" cy="822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3429000"/>
            <a:ext cx="9720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plans + payment plans + WQE = financial lifecycle automation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1371600" cy="8229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3891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74520" y="4389120"/>
            <a:ext cx="9902952" cy="822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4480560"/>
            <a:ext cx="9720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(REST/OAuth) for new; SOAP for legacy; Messaging for events; Plugins for logic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2636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RapidAI Tech™  |  Guidewire InsuranceSuite Training  |  For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2026-09-24T18:47:27Z</dcterms:created>
  <dcterms:modified xsi:type="dcterms:W3CDTF">2026-09-24T18:47:27Z</dcterms:modified>
</cp:coreProperties>
</file>